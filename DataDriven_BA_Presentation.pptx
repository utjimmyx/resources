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Job Postings Requiring Skill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0E-4654-82A2-176DC893E0A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0E-4654-82A2-176DC893E0A0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0E-4654-82A2-176DC893E0A0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0E-4654-82A2-176DC893E0A0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0E-4654-82A2-176DC893E0A0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D0E-4654-82A2-176DC893E0A0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D0E-4654-82A2-176DC893E0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Excel</c:v>
                </c:pt>
                <c:pt idx="1">
                  <c:v>SQL</c:v>
                </c:pt>
                <c:pt idx="2">
                  <c:v>Power BI</c:v>
                </c:pt>
                <c:pt idx="3">
                  <c:v>Tableau</c:v>
                </c:pt>
                <c:pt idx="4">
                  <c:v>Python</c:v>
                </c:pt>
                <c:pt idx="5">
                  <c:v>R</c:v>
                </c:pt>
                <c:pt idx="6">
                  <c:v>SAS/SPSS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78</c:v>
                </c:pt>
                <c:pt idx="2">
                  <c:v>62</c:v>
                </c:pt>
                <c:pt idx="3">
                  <c:v>58</c:v>
                </c:pt>
                <c:pt idx="4">
                  <c:v>55</c:v>
                </c:pt>
                <c:pt idx="5">
                  <c:v>42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D0E-4654-82A2-176DC893E0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406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the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Business Analyst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Analysis of Skill Requirements from LinkedIn Job Postings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6763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Zhenning Xu · Dr. Lili Gai · Dr. Fernando Parra · Yen Nhi Hoang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Conference  |  April 2026</a:t>
            </a:r>
            <a:endParaRPr lang="en-US" sz="1100" dirty="0"/>
          </a:p>
        </p:txBody>
      </p:sp>
      <p:pic>
        <p:nvPicPr>
          <p:cNvPr id="1026" name="Picture 2" descr="University Visual Identity: Logos ...">
            <a:extLst>
              <a:ext uri="{FF2B5EF4-FFF2-40B4-BE49-F238E27FC236}">
                <a16:creationId xmlns:a16="http://schemas.microsoft.com/office/drawing/2014/main" id="{8BAD12EC-6B30-B53E-23B2-DB0CEF646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8" y="51435"/>
            <a:ext cx="397192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Motivation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Methodology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Approach: Text Analytics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Hard Skills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Soft Skills &amp; Programming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7373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Modeling Results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Graduates &amp; Employers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roles are among the fastest-growing positions. BLS projects 36% growth in data science employment by 2031.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often lack awareness of what employers truly need. There is little empirical evidence mapping skill requirements at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Opportunity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now hosts millions of job postings, offering a rich and timely dataset to study real employer demand objectively.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0584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hard and soft skills do employers require for business analytics positions?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00584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RQ2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468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skill requirements differ across metropolitan vs. mid-sized cities?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0058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RQ3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703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underlying themes emerge from job descriptions using topic modeling (LDA)?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937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Scraper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BeautifulSoup &amp; Selenium to scrape ~1,200 LinkedIn job postings targeting business analytics roles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4937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cities: Los Angeles, New York, Houston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Mid-sized: Bakersfield, Fresno, Denver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4937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56616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977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standardized job titles, normalized text for downstream NLP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005840"/>
            <a:ext cx="30175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97880" y="1691640"/>
            <a:ext cx="25603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9788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Scraped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743200"/>
            <a:ext cx="25603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8978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Analyzed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3794760"/>
            <a:ext cx="25603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3886200"/>
            <a:ext cx="25603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897880" y="42473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Period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Approach: Text Analytics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92024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>
                    <a:alpha val="50000"/>
                  </a:srgbClr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66544" y="164592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2468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skill keywords (Excel, SQL, Python, R, etc.) from posting 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005840"/>
            <a:ext cx="19202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>
                    <a:alpha val="50000"/>
                  </a:srgbClr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15384" y="164592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0" y="2468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25603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skills by occurrence across all 1,200 postings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1005840"/>
            <a:ext cx="192024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>
                    <a:alpha val="50000"/>
                  </a:srgbClr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3484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64224" y="164592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34840" y="2468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25603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relative importance of terms across job descriptions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005840"/>
            <a:ext cx="19202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>
                    <a:alpha val="50000"/>
                  </a:srgbClr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2468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20840" y="25603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6 latent themes from job description corpus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In-Demand Tools &amp; Platforms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69748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6480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3796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is universal — required in 92% of postings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2860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Power BI follow closely as core tools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301752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overtakes R as the top programming language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37490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3796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&amp; SPSS declining rapidly vs. open-source tools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Modeling: Themes in Job Descriptions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Analytics Technology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· analytics · digital · technology · campaigns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 &amp; Collaboration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team · stakeholders · cross-functional ·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Skills &amp;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SQL · pipeline · ETL · warehouse · modeling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Advanced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modeling · regression · forecasting · R · Python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3756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Communication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86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communication · presentation · CRM · reporting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7432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7220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886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roadmap · agile · requirements · KPIs · sprint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Insights: Metro vs. Mid-Sized Cities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· New York · Houston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demand for cloud &amp; big data tools (AWS, Spark)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postings requiring advanced ML/AI skills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2369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emphasis on team collaboration &amp; leadership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398678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salaries with broader skill 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2062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0058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Cities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1417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Bakersfield · Fresno · Denver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17830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4648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(Excel, SQL, Power BI) dominate requirements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53288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84648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niche/advanced tool requirements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28269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4648" y="32369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&amp; communication more prominent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40325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84648" y="398678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new graduates entering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840480"/>
          </a:xfrm>
          <a:prstGeom prst="rect">
            <a:avLst/>
          </a:prstGeom>
          <a:solidFill>
            <a:srgbClr val="152D45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 Graduates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Excel + SQL as baseline — non-negotiable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little bit of R or Python and at least one BI tool (Power BI or Tableau)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soft skills: communication, collaboration, storytelling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743200" cy="3840480"/>
          </a:xfrm>
          <a:prstGeom prst="rect">
            <a:avLst/>
          </a:prstGeom>
          <a:solidFill>
            <a:srgbClr val="152D4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0241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 Educators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curricula with real market demand via periodic job data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LDA and text analytics projects into coursework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gap between metro &amp; mid-sized market needs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152D45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0241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Research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across more cities and industries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longitudinal changes in skill demand over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impact of AI/GenAI tools on BA job 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hard skills AND soft skills matter — the data-driven analyst of tomorrow needs the full toolkit."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698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of Data-Driven Business Analyst</dc:title>
  <dc:subject>PptxGenJS Presentation</dc:subject>
  <dc:creator>Zhenning Xu et al.</dc:creator>
  <cp:lastModifiedBy>Zhenning Xu</cp:lastModifiedBy>
  <cp:revision>2</cp:revision>
  <dcterms:created xsi:type="dcterms:W3CDTF">2026-04-17T06:21:31Z</dcterms:created>
  <dcterms:modified xsi:type="dcterms:W3CDTF">2026-04-17T06:28:36Z</dcterms:modified>
</cp:coreProperties>
</file>